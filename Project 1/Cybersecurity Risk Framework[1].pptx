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17288" y="2366614"/>
            <a:ext cx="4757423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714500"/>
            <a:ext cx="5238749" cy="4571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0" y="1714500"/>
            <a:ext cx="5238749" cy="4571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772275" y="2466974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2275" y="2124075"/>
            <a:ext cx="219074" cy="17829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62025" y="2466975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2124075"/>
            <a:ext cx="180974" cy="1782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64008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5611" y="2176461"/>
            <a:ext cx="6181725" cy="286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4706" y="1724368"/>
            <a:ext cx="8463280" cy="200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z="4800" spc="-100" dirty="0"/>
              <a:t>Cybersecurity</a:t>
            </a:r>
            <a:r>
              <a:rPr sz="4800" spc="-270" dirty="0"/>
              <a:t> </a:t>
            </a:r>
            <a:r>
              <a:rPr sz="4800" spc="-135" dirty="0"/>
              <a:t>Risk</a:t>
            </a:r>
            <a:r>
              <a:rPr sz="4800" spc="-260" dirty="0"/>
              <a:t> </a:t>
            </a:r>
            <a:r>
              <a:rPr sz="4800" spc="-10" dirty="0"/>
              <a:t>Assessment </a:t>
            </a:r>
            <a:r>
              <a:rPr sz="4800" spc="-20" dirty="0"/>
              <a:t>Framework</a:t>
            </a:r>
            <a:endParaRPr sz="4800"/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400" b="0" spc="-10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dirty="0">
                <a:solidFill>
                  <a:srgbClr val="94A3B8"/>
                </a:solidFill>
                <a:latin typeface="Trebuchet MS"/>
                <a:cs typeface="Trebuchet MS"/>
              </a:rPr>
              <a:t>Small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55" dirty="0">
                <a:solidFill>
                  <a:srgbClr val="94A3B8"/>
                </a:solidFill>
                <a:latin typeface="Trebuchet MS"/>
                <a:cs typeface="Trebuchet MS"/>
              </a:rPr>
              <a:t>Online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10" dirty="0">
                <a:solidFill>
                  <a:srgbClr val="94A3B8"/>
                </a:solidFill>
                <a:latin typeface="Trebuchet MS"/>
                <a:cs typeface="Trebuchet MS"/>
              </a:rPr>
              <a:t>Retail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0" dirty="0">
                <a:solidFill>
                  <a:srgbClr val="94A3B8"/>
                </a:solidFill>
                <a:latin typeface="Trebuchet MS"/>
                <a:cs typeface="Trebuchet MS"/>
              </a:rPr>
              <a:t>Businesses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9750" y="4204244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49656" y="38099"/>
                </a:moveTo>
                <a:lnTo>
                  <a:pt x="2842" y="38099"/>
                </a:lnTo>
                <a:lnTo>
                  <a:pt x="0" y="35256"/>
                </a:lnTo>
                <a:lnTo>
                  <a:pt x="0" y="6350"/>
                </a:lnTo>
                <a:lnTo>
                  <a:pt x="0" y="2842"/>
                </a:lnTo>
                <a:lnTo>
                  <a:pt x="2842" y="0"/>
                </a:lnTo>
                <a:lnTo>
                  <a:pt x="947834" y="0"/>
                </a:lnTo>
                <a:lnTo>
                  <a:pt x="949449" y="668"/>
                </a:lnTo>
                <a:lnTo>
                  <a:pt x="950639" y="1859"/>
                </a:lnTo>
                <a:lnTo>
                  <a:pt x="951831" y="3050"/>
                </a:lnTo>
                <a:lnTo>
                  <a:pt x="952499" y="4665"/>
                </a:lnTo>
                <a:lnTo>
                  <a:pt x="952499" y="35256"/>
                </a:lnTo>
                <a:lnTo>
                  <a:pt x="949656" y="38099"/>
                </a:lnTo>
                <a:close/>
              </a:path>
            </a:pathLst>
          </a:custGeom>
          <a:solidFill>
            <a:srgbClr val="06B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89980" y="4507775"/>
            <a:ext cx="4411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Securing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Platforms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the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NIST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Framework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095500"/>
            <a:ext cx="5238749" cy="3809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69050" y="2423329"/>
            <a:ext cx="5021580" cy="2934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F7FAFC"/>
                </a:solidFill>
                <a:latin typeface="Trebuchet MS"/>
                <a:cs typeface="Trebuchet MS"/>
              </a:rPr>
              <a:t>Low</a:t>
            </a:r>
            <a:r>
              <a:rPr sz="1400" b="1" spc="-25" dirty="0">
                <a:solidFill>
                  <a:srgbClr val="F7FAF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7FAFC"/>
                </a:solidFill>
                <a:latin typeface="Trebuchet MS"/>
                <a:cs typeface="Trebuchet MS"/>
              </a:rPr>
              <a:t>Hanging</a:t>
            </a:r>
            <a:r>
              <a:rPr sz="1400" b="1" spc="-20" dirty="0">
                <a:solidFill>
                  <a:srgbClr val="F7FAFC"/>
                </a:solidFill>
                <a:latin typeface="Trebuchet MS"/>
                <a:cs typeface="Trebuchet MS"/>
              </a:rPr>
              <a:t> Fruit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5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Small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online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retail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businesses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increasingly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dependent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on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but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dedicated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IT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teams.</a:t>
            </a:r>
            <a:endParaRPr sz="150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1620"/>
              </a:spcBef>
              <a:buChar char="•"/>
              <a:tabLst>
                <a:tab pos="430530" algn="l"/>
              </a:tabLst>
            </a:pP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Limited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budgets.</a:t>
            </a:r>
            <a:endParaRPr sz="150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technical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expertise.</a:t>
            </a:r>
            <a:endParaRPr sz="150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Easy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targets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attacks.</a:t>
            </a:r>
            <a:endParaRPr sz="1500">
              <a:latin typeface="Trebuchet MS"/>
              <a:cs typeface="Trebuchet MS"/>
            </a:endParaRPr>
          </a:p>
          <a:p>
            <a:pPr marL="12700" marR="59055">
              <a:lnSpc>
                <a:spcPct val="160000"/>
              </a:lnSpc>
              <a:spcBef>
                <a:spcPts val="1019"/>
              </a:spcBef>
            </a:pPr>
            <a:r>
              <a:rPr sz="1500" b="1" spc="-20" dirty="0">
                <a:solidFill>
                  <a:srgbClr val="06B6D4"/>
                </a:solidFill>
                <a:latin typeface="Trebuchet MS"/>
                <a:cs typeface="Trebuchet MS"/>
              </a:rPr>
              <a:t>The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06B6D4"/>
                </a:solidFill>
                <a:latin typeface="Trebuchet MS"/>
                <a:cs typeface="Trebuchet MS"/>
              </a:rPr>
              <a:t>Result: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Data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breaches,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06B6D4"/>
                </a:solidFill>
                <a:latin typeface="Trebuchet MS"/>
                <a:cs typeface="Trebuchet MS"/>
              </a:rPr>
              <a:t>financial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06B6D4"/>
                </a:solidFill>
                <a:latin typeface="Trebuchet MS"/>
                <a:cs typeface="Trebuchet MS"/>
              </a:rPr>
              <a:t>loss,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and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06B6D4"/>
                </a:solidFill>
                <a:latin typeface="Trebuchet MS"/>
                <a:cs typeface="Trebuchet MS"/>
              </a:rPr>
              <a:t>reputational </a:t>
            </a:r>
            <a:r>
              <a:rPr sz="1500" b="1" spc="-10" dirty="0">
                <a:solidFill>
                  <a:srgbClr val="06B6D4"/>
                </a:solidFill>
                <a:latin typeface="Trebuchet MS"/>
                <a:cs typeface="Trebuchet MS"/>
              </a:rPr>
              <a:t>damage.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200" dirty="0"/>
              <a:t> </a:t>
            </a:r>
            <a:r>
              <a:rPr spc="-125" dirty="0"/>
              <a:t>Context:</a:t>
            </a:r>
            <a:r>
              <a:rPr spc="-195" dirty="0"/>
              <a:t> </a:t>
            </a:r>
            <a:r>
              <a:rPr spc="-70" dirty="0"/>
              <a:t>Vulnerability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95537"/>
            <a:ext cx="3492399" cy="3209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95537"/>
            <a:ext cx="3492548" cy="3209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7950" y="2395537"/>
            <a:ext cx="3492399" cy="3209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0168" y="3411918"/>
            <a:ext cx="2675890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Weak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endParaRPr sz="18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spc="60" dirty="0">
                <a:solidFill>
                  <a:srgbClr val="CBD4E1"/>
                </a:solidFill>
                <a:latin typeface="Trebuchet MS"/>
                <a:cs typeface="Trebuchet MS"/>
              </a:rPr>
              <a:t>Many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shops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shared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admin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accounts,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weak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passwords,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Multi-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Factor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Authentication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(MFA).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1810" y="3411918"/>
            <a:ext cx="286893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Untrained</a:t>
            </a:r>
            <a:r>
              <a:rPr sz="18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Staff</a:t>
            </a:r>
            <a:endParaRPr sz="18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Employees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8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unaware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basic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cyber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hygiene,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making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them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susceptible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phishing.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11806" y="3411918"/>
            <a:ext cx="272605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Redundancy</a:t>
            </a:r>
            <a:endParaRPr sz="1800">
              <a:latin typeface="Trebuchet MS"/>
              <a:cs typeface="Trebuchet MS"/>
            </a:endParaRPr>
          </a:p>
          <a:p>
            <a:pPr marL="33020" marR="5080" indent="-20955" algn="just">
              <a:lnSpc>
                <a:spcPct val="160000"/>
              </a:lnSpc>
              <a:spcBef>
                <a:spcPts val="445"/>
              </a:spcBef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backups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encryption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means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ransomware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can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cause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permanent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data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loss.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1950" y="2728912"/>
            <a:ext cx="5714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101" y="2728912"/>
            <a:ext cx="5714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5550" y="2728912"/>
            <a:ext cx="457199" cy="4571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25" dirty="0"/>
              <a:t> </a:t>
            </a:r>
            <a:r>
              <a:rPr spc="-25" dirty="0"/>
              <a:t>Are</a:t>
            </a:r>
            <a:r>
              <a:rPr spc="-225" dirty="0"/>
              <a:t> </a:t>
            </a:r>
            <a:r>
              <a:rPr spc="-55" dirty="0"/>
              <a:t>They</a:t>
            </a:r>
            <a:r>
              <a:rPr spc="-225" dirty="0"/>
              <a:t> </a:t>
            </a:r>
            <a:r>
              <a:rPr spc="-10" dirty="0"/>
              <a:t>Targets?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8400" y="3332479"/>
            <a:ext cx="3907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Analyze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specific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retail.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38875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71500" y="3076575"/>
            <a:ext cx="504825" cy="781050"/>
            <a:chOff x="571500" y="3076575"/>
            <a:chExt cx="504825" cy="781050"/>
          </a:xfrm>
        </p:grpSpPr>
        <p:sp>
          <p:nvSpPr>
            <p:cNvPr id="6" name="object 6"/>
            <p:cNvSpPr/>
            <p:nvPr/>
          </p:nvSpPr>
          <p:spPr>
            <a:xfrm>
              <a:off x="571500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835775" y="3332479"/>
            <a:ext cx="3632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Create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risk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assessment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model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NIST.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238875" y="3076575"/>
            <a:ext cx="504825" cy="781050"/>
            <a:chOff x="6238875" y="3076575"/>
            <a:chExt cx="504825" cy="781050"/>
          </a:xfrm>
        </p:grpSpPr>
        <p:sp>
          <p:nvSpPr>
            <p:cNvPr id="11" name="object 11"/>
            <p:cNvSpPr/>
            <p:nvPr/>
          </p:nvSpPr>
          <p:spPr>
            <a:xfrm>
              <a:off x="6238875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100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5550" y="4399279"/>
            <a:ext cx="3422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Score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Likelihood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vs.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Impact.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38875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71500" y="4143375"/>
            <a:ext cx="561975" cy="781050"/>
            <a:chOff x="571500" y="4143375"/>
            <a:chExt cx="561975" cy="781050"/>
          </a:xfrm>
        </p:grpSpPr>
        <p:sp>
          <p:nvSpPr>
            <p:cNvPr id="16" name="object 16"/>
            <p:cNvSpPr/>
            <p:nvPr/>
          </p:nvSpPr>
          <p:spPr>
            <a:xfrm>
              <a:off x="571500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5" y="4419600"/>
              <a:ext cx="285749" cy="2285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835775" y="4399279"/>
            <a:ext cx="3608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Recommend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actionable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measures.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8875" y="4143375"/>
            <a:ext cx="504825" cy="781050"/>
            <a:chOff x="6238875" y="4143375"/>
            <a:chExt cx="504825" cy="781050"/>
          </a:xfrm>
        </p:grpSpPr>
        <p:sp>
          <p:nvSpPr>
            <p:cNvPr id="20" name="object 20"/>
            <p:cNvSpPr/>
            <p:nvPr/>
          </p:nvSpPr>
          <p:spPr>
            <a:xfrm>
              <a:off x="6238875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100" y="4419600"/>
              <a:ext cx="228599" cy="228599"/>
            </a:xfrm>
            <a:prstGeom prst="rect">
              <a:avLst/>
            </a:prstGeom>
          </p:spPr>
        </p:pic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Project</a:t>
            </a:r>
            <a:r>
              <a:rPr spc="-210" dirty="0"/>
              <a:t> </a:t>
            </a:r>
            <a:r>
              <a:rPr spc="-65" dirty="0"/>
              <a:t>Objectives</a:t>
            </a:r>
          </a:p>
        </p:txBody>
      </p:sp>
      <p:sp>
        <p:nvSpPr>
          <p:cNvPr id="23" name="object 2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18444"/>
            <a:ext cx="3492399" cy="3364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18444"/>
            <a:ext cx="3492548" cy="33641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27950" y="2318444"/>
            <a:ext cx="3492500" cy="3364229"/>
            <a:chOff x="8127950" y="2318444"/>
            <a:chExt cx="3492500" cy="3364229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7950" y="2318444"/>
              <a:ext cx="3492399" cy="33641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0350" y="2470844"/>
              <a:ext cx="3187599" cy="23812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93210" y="4975411"/>
            <a:ext cx="204914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Deceptive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94A3B8"/>
                </a:solidFill>
                <a:latin typeface="Trebuchet MS"/>
                <a:cs typeface="Trebuchet MS"/>
              </a:rPr>
              <a:t>links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steal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credentials.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0" y="2470844"/>
            <a:ext cx="3187599" cy="2381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02050" y="2470844"/>
            <a:ext cx="3187749" cy="2381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58722" y="4975411"/>
            <a:ext cx="227520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Ransomware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Encrypts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demands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payment.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2364" y="4975411"/>
            <a:ext cx="144335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3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Breach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Leakage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of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customer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94A3B8"/>
                </a:solidFill>
                <a:latin typeface="Trebuchet MS"/>
                <a:cs typeface="Trebuchet MS"/>
              </a:rPr>
              <a:t>PII.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190" dirty="0"/>
              <a:t> </a:t>
            </a:r>
            <a:r>
              <a:rPr spc="-70" dirty="0"/>
              <a:t>Threat</a:t>
            </a:r>
            <a:r>
              <a:rPr spc="-190" dirty="0"/>
              <a:t> </a:t>
            </a:r>
            <a:r>
              <a:rPr spc="-10" dirty="0"/>
              <a:t>Landscape</a:t>
            </a:r>
          </a:p>
        </p:txBody>
      </p:sp>
      <p:sp>
        <p:nvSpPr>
          <p:cNvPr id="13" name="object 1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1836" y="5040282"/>
            <a:ext cx="5234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0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lifecycle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approach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security: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from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prevention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restoration.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500" y="2826097"/>
            <a:ext cx="11049000" cy="762000"/>
            <a:chOff x="571500" y="2826097"/>
            <a:chExt cx="11049000" cy="762000"/>
          </a:xfrm>
        </p:grpSpPr>
        <p:sp>
          <p:nvSpPr>
            <p:cNvPr id="4" name="object 4"/>
            <p:cNvSpPr/>
            <p:nvPr/>
          </p:nvSpPr>
          <p:spPr>
            <a:xfrm>
              <a:off x="571500" y="3207096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6156" y="38099"/>
                  </a:moveTo>
                  <a:lnTo>
                    <a:pt x="2843" y="38099"/>
                  </a:lnTo>
                  <a:lnTo>
                    <a:pt x="0" y="35256"/>
                  </a:lnTo>
                  <a:lnTo>
                    <a:pt x="0" y="6349"/>
                  </a:lnTo>
                  <a:lnTo>
                    <a:pt x="0" y="2842"/>
                  </a:lnTo>
                  <a:lnTo>
                    <a:pt x="2843" y="0"/>
                  </a:lnTo>
                  <a:lnTo>
                    <a:pt x="11044334" y="0"/>
                  </a:lnTo>
                  <a:lnTo>
                    <a:pt x="11045949" y="668"/>
                  </a:lnTo>
                  <a:lnTo>
                    <a:pt x="11048331" y="3050"/>
                  </a:lnTo>
                  <a:lnTo>
                    <a:pt x="11048999" y="4665"/>
                  </a:lnTo>
                  <a:lnTo>
                    <a:pt x="11048999" y="35256"/>
                  </a:lnTo>
                  <a:lnTo>
                    <a:pt x="11046156" y="38099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820" y="2826097"/>
              <a:ext cx="761999" cy="761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9835" y="2826097"/>
              <a:ext cx="761999" cy="761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851" y="2826097"/>
              <a:ext cx="761999" cy="761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9865" y="2826097"/>
              <a:ext cx="761999" cy="761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4881" y="2826097"/>
              <a:ext cx="761999" cy="76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4370" y="3054697"/>
              <a:ext cx="342899" cy="3047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435" y="3054697"/>
              <a:ext cx="304799" cy="3047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8465" y="3054697"/>
              <a:ext cx="304799" cy="3047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3481" y="3054697"/>
              <a:ext cx="304799" cy="3047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08665" y="3757515"/>
            <a:ext cx="13144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Identify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Know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assets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&amp;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risks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0776" y="3757515"/>
            <a:ext cx="8001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Protect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Safeguards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731" y="3757515"/>
            <a:ext cx="101473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Detect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Monitor</a:t>
            </a:r>
            <a:r>
              <a:rPr sz="120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events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2082" y="3757515"/>
            <a:ext cx="8382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Respond</a:t>
            </a:r>
            <a:endParaRPr sz="16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Take</a:t>
            </a:r>
            <a:r>
              <a:rPr sz="12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action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84712" y="3757515"/>
            <a:ext cx="8826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Recover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Restore</a:t>
            </a:r>
            <a:r>
              <a:rPr sz="120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Methodology:</a:t>
            </a:r>
            <a:r>
              <a:rPr spc="-210" dirty="0"/>
              <a:t> </a:t>
            </a:r>
            <a:r>
              <a:rPr spc="80" dirty="0"/>
              <a:t>NIST</a:t>
            </a:r>
            <a:r>
              <a:rPr spc="-210" dirty="0"/>
              <a:t> </a:t>
            </a:r>
            <a:r>
              <a:rPr spc="-65" dirty="0"/>
              <a:t>Framework</a:t>
            </a:r>
          </a:p>
        </p:txBody>
      </p:sp>
      <p:sp>
        <p:nvSpPr>
          <p:cNvPr id="20" name="object 20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6141" y="5308917"/>
            <a:ext cx="41198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90" dirty="0">
                <a:solidFill>
                  <a:srgbClr val="CBD4E1"/>
                </a:solidFill>
                <a:latin typeface="Trebuchet MS"/>
                <a:cs typeface="Trebuchet MS"/>
              </a:rPr>
              <a:t>Priority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75" dirty="0">
                <a:solidFill>
                  <a:srgbClr val="CBD4E1"/>
                </a:solidFill>
                <a:latin typeface="Trebuchet MS"/>
                <a:cs typeface="Trebuchet MS"/>
              </a:rPr>
              <a:t>Action: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Ransomware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&amp;</a:t>
            </a:r>
            <a:r>
              <a:rPr sz="1500" i="1" spc="-50" dirty="0">
                <a:solidFill>
                  <a:srgbClr val="CBD4E1"/>
                </a:solidFill>
                <a:latin typeface="Trebuchet MS"/>
                <a:cs typeface="Trebuchet MS"/>
              </a:rPr>
              <a:t> Phishing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CBD4E1"/>
                </a:solidFill>
                <a:latin typeface="Trebuchet MS"/>
                <a:cs typeface="Trebuchet MS"/>
              </a:rPr>
              <a:t>Mitigation</a:t>
            </a:r>
            <a:endParaRPr sz="15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33711" y="2176461"/>
          <a:ext cx="6104889" cy="286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695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5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Likelihood</a:t>
                      </a:r>
                      <a:r>
                        <a:rPr sz="1200" b="1" spc="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Level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Ransomware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CRITICAL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Phishing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Payment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Fraud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Weak</a:t>
                      </a:r>
                      <a:r>
                        <a:rPr sz="12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Passwords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20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Breach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Risk</a:t>
            </a:r>
            <a:r>
              <a:rPr spc="-210" dirty="0"/>
              <a:t> </a:t>
            </a:r>
            <a:r>
              <a:rPr spc="-65" dirty="0"/>
              <a:t>Evaluation</a:t>
            </a:r>
            <a:r>
              <a:rPr spc="-210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2085192"/>
            <a:ext cx="4069715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5" dirty="0">
                <a:solidFill>
                  <a:srgbClr val="06B6D4"/>
                </a:solidFill>
                <a:latin typeface="Trebuchet MS"/>
                <a:cs typeface="Trebuchet MS"/>
              </a:rPr>
              <a:t>Technical</a:t>
            </a:r>
            <a:r>
              <a:rPr sz="1400" b="1" spc="-2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buFont typeface="Trebuchet MS"/>
              <a:buChar char="•"/>
              <a:tabLst>
                <a:tab pos="249554" algn="l"/>
              </a:tabLst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MFA:</a:t>
            </a:r>
            <a:r>
              <a:rPr sz="1500" b="1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Mandatory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all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admin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accounts.</a:t>
            </a:r>
            <a:endParaRPr sz="150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65" dirty="0">
                <a:solidFill>
                  <a:srgbClr val="CBD4E1"/>
                </a:solidFill>
                <a:latin typeface="Trebuchet MS"/>
                <a:cs typeface="Trebuchet MS"/>
              </a:rPr>
              <a:t>Encryption:</a:t>
            </a:r>
            <a:r>
              <a:rPr sz="1500" b="1" spc="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SSL/TLS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gateways.</a:t>
            </a:r>
            <a:endParaRPr sz="150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Backups: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weekly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off-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site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backups.</a:t>
            </a:r>
            <a:endParaRPr sz="150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Firewall:</a:t>
            </a: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Traffic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monitoring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blocking.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8650" y="2085192"/>
            <a:ext cx="4155440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6B6D4"/>
                </a:solidFill>
                <a:latin typeface="Trebuchet MS"/>
                <a:cs typeface="Trebuchet MS"/>
              </a:rPr>
              <a:t>Human</a:t>
            </a:r>
            <a:r>
              <a:rPr sz="1400" b="1" spc="-5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buFont typeface="Trebuchet MS"/>
              <a:buChar char="•"/>
              <a:tabLst>
                <a:tab pos="211454" algn="l"/>
              </a:tabLst>
            </a:pP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Training: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Regular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phishing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simulations.</a:t>
            </a:r>
            <a:endParaRPr sz="150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Access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Control: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Least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Privilege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Principle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(RBAC).</a:t>
            </a:r>
            <a:endParaRPr sz="150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Policy: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Clear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"Bring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Your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55" dirty="0">
                <a:solidFill>
                  <a:srgbClr val="CBD4E1"/>
                </a:solidFill>
                <a:latin typeface="Trebuchet MS"/>
                <a:cs typeface="Trebuchet MS"/>
              </a:rPr>
              <a:t>Own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Device"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rules.</a:t>
            </a:r>
            <a:endParaRPr sz="150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Incident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Plan: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Defined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roles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Mitigation</a:t>
            </a:r>
            <a:r>
              <a:rPr spc="-19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722" y="2790113"/>
            <a:ext cx="913066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07950" algn="ctr">
              <a:lnSpc>
                <a:spcPct val="140000"/>
              </a:lnSpc>
              <a:spcBef>
                <a:spcPts val="100"/>
              </a:spcBef>
            </a:pP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20" dirty="0">
                <a:solidFill>
                  <a:srgbClr val="FFFFFF"/>
                </a:solidFill>
                <a:latin typeface="Trebuchet MS"/>
                <a:cs typeface="Trebuchet MS"/>
              </a:rPr>
              <a:t>investment,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expense. </a:t>
            </a:r>
            <a:r>
              <a:rPr sz="3600" spc="-150" dirty="0">
                <a:solidFill>
                  <a:srgbClr val="FFFFFF"/>
                </a:solidFill>
                <a:latin typeface="Trebuchet MS"/>
                <a:cs typeface="Trebuchet MS"/>
              </a:rPr>
              <a:t>Prioritizing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60" dirty="0">
                <a:solidFill>
                  <a:srgbClr val="FFFFFF"/>
                </a:solidFill>
                <a:latin typeface="Trebuchet MS"/>
                <a:cs typeface="Trebuchet MS"/>
              </a:rPr>
              <a:t>high-</a:t>
            </a:r>
            <a:r>
              <a:rPr sz="3600" spc="5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risks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ensures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safer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transactions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sustainable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growth.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2601138"/>
            <a:ext cx="3962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-1895" dirty="0">
                <a:solidFill>
                  <a:srgbClr val="06B6D4"/>
                </a:solidFill>
                <a:latin typeface="Trebuchet MS"/>
                <a:cs typeface="Trebuchet MS"/>
              </a:rPr>
              <a:t>“</a:t>
            </a:r>
            <a:endParaRPr sz="90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Conclusion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356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Trebuchet MS</vt:lpstr>
      <vt:lpstr>Office Theme</vt:lpstr>
      <vt:lpstr>Cybersecurity Risk Assessment Framework For Small Online Retail Businesses</vt:lpstr>
      <vt:lpstr>The Context: Vulnerability</vt:lpstr>
      <vt:lpstr>Why Are They Targets?</vt:lpstr>
      <vt:lpstr>Project Objectives</vt:lpstr>
      <vt:lpstr>The Threat Landscape</vt:lpstr>
      <vt:lpstr>Methodology: NIST Framework</vt:lpstr>
      <vt:lpstr>Risk Evaluation Matrix</vt:lpstr>
      <vt:lpstr>Mitigation Strategies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Risk Framework</dc:title>
  <cp:lastModifiedBy>vishavajitmadavan15@outlook.com</cp:lastModifiedBy>
  <cp:revision>1</cp:revision>
  <dcterms:created xsi:type="dcterms:W3CDTF">2025-12-04T18:12:28Z</dcterms:created>
  <dcterms:modified xsi:type="dcterms:W3CDTF">2025-12-04T18:15:16Z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2025-12-04T00:00:00Z</vt:filetime>
  </property>
</Properties>
</file>